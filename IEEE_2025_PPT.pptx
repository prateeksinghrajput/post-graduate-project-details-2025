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2.jpeg" ContentType="image/jpeg"/>
  <Override PartName="/ppt/media/image3.jpeg" ContentType="image/jpeg"/>
  <Override PartName="/ppt/media/image4.jpeg" ContentType="image/jpeg"/>
  <Override PartName="/ppt/notesSlides/notesSlide4.xml" ContentType="application/vnd.openxmlformats-officedocument.presentationml.notesSlide+xml"/>
  <Override PartName="/ppt/media/image5.jpeg" ContentType="image/jpeg"/>
  <Override PartName="/ppt/notesSlides/notesSlide5.xml" ContentType="application/vnd.openxmlformats-officedocument.presentationml.notesSlide+xml"/>
  <Override PartName="/ppt/media/image6.jpeg" ContentType="image/jpeg"/>
  <Override PartName="/ppt/media/image7.jpeg" ContentType="image/jpeg"/>
  <Override PartName="/ppt/media/image8.jpe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9.jpeg" ContentType="image/jpeg"/>
  <Override PartName="/ppt/media/image10.jpeg" ContentType="image/jpeg"/>
  <Override PartName="/ppt/media/image11.jpeg" ContentType="image/jpeg"/>
  <Override PartName="/ppt/media/image12.jpeg" ContentType="image/jpeg"/>
  <Override PartName="/ppt/media/image13.jpeg" ContentType="image/jpe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3" name="Shape 13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3" name="Shape 1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(Blue)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0" name="Shape 1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(Blue)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7" name="Shape 15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(Blue)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8" name="Shape 1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(Blue)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7" name="Shape 1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(Blue)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0" name="Shape 2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(Blue)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2" name="Shape 2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(Blue)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6" name="Shape 2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(Blue)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3" name="Shape 2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(Blue)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406400" indent="-355600" algn="ctr">
              <a:buClrTx/>
              <a:buSzTx/>
              <a:buFontTx/>
              <a:buNone/>
              <a:defRPr sz="2400"/>
            </a:lvl1pPr>
            <a:lvl2pPr marL="406400" indent="127000" algn="ctr">
              <a:buClrTx/>
              <a:buSzTx/>
              <a:buFontTx/>
              <a:buNone/>
              <a:defRPr sz="2400"/>
            </a:lvl2pPr>
            <a:lvl3pPr marL="406400" indent="609600" algn="ctr">
              <a:buClrTx/>
              <a:buSzTx/>
              <a:buFontTx/>
              <a:buNone/>
              <a:defRPr sz="2400"/>
            </a:lvl3pPr>
            <a:lvl4pPr marL="406400" indent="1079500" algn="ctr">
              <a:buClrTx/>
              <a:buSzTx/>
              <a:buFontTx/>
              <a:buNone/>
              <a:defRPr sz="2400"/>
            </a:lvl4pPr>
            <a:lvl5pPr marL="406400" indent="1536700" algn="ctr">
              <a:buClrTx/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228600" indent="4572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228600" indent="9144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228600" indent="13716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228600" indent="18288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Google Shape;36;p7"/>
          <p:cNvSpPr txBox="1"/>
          <p:nvPr>
            <p:ph type="body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b="1" sz="2400"/>
            </a:lvl1pPr>
            <a:lvl2pPr marL="228600" indent="457200">
              <a:buClrTx/>
              <a:buSzTx/>
              <a:buFontTx/>
              <a:buNone/>
              <a:defRPr b="1" sz="2400"/>
            </a:lvl2pPr>
            <a:lvl3pPr marL="228600" indent="914400">
              <a:buClrTx/>
              <a:buSzTx/>
              <a:buFontTx/>
              <a:buNone/>
              <a:defRPr b="1" sz="2400"/>
            </a:lvl3pPr>
            <a:lvl4pPr marL="228600" indent="1371600">
              <a:buClrTx/>
              <a:buSzTx/>
              <a:buFontTx/>
              <a:buNone/>
              <a:defRPr b="1" sz="2400"/>
            </a:lvl4pPr>
            <a:lvl5pPr marL="228600" indent="1828800">
              <a:buClrTx/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Google Shape;43;p8"/>
          <p:cNvSpPr txBox="1"/>
          <p:nvPr>
            <p:ph type="body" sz="half" idx="21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" name="Google Shape;44;p8"/>
          <p:cNvSpPr txBox="1"/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b="1" sz="2400"/>
            </a:pPr>
          </a:p>
        </p:txBody>
      </p:sp>
      <p:sp>
        <p:nvSpPr>
          <p:cNvPr id="52" name="Google Shape;45;p8"/>
          <p:cNvSpPr txBox="1"/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 indent="-431800">
              <a:buSzPts val="3200"/>
              <a:defRPr sz="3200"/>
            </a:lvl1pPr>
            <a:lvl2pPr marL="972457" indent="-464457">
              <a:buSzPts val="3200"/>
              <a:defRPr sz="3200"/>
            </a:lvl2pPr>
            <a:lvl3pPr marL="1498600" indent="-508000">
              <a:buSzPts val="3200"/>
              <a:defRPr sz="3200"/>
            </a:lvl3pPr>
            <a:lvl4pPr marL="2042160" indent="-568960">
              <a:buSzPts val="3200"/>
              <a:defRPr sz="3200"/>
            </a:lvl4pPr>
            <a:lvl5pPr marL="2499360" indent="-568960">
              <a:buSzPts val="3200"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Google Shape;61;p11"/>
          <p:cNvSpPr txBox="1"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600"/>
            </a:pP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6" name="Google Shape;67;p1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7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idx="1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/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5" name="Body Level One…"/>
          <p:cNvSpPr txBox="1"/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Text"/>
          <p:cNvSpPr txBox="1"/>
          <p:nvPr>
            <p:ph type="title"/>
          </p:nvPr>
        </p:nvSpPr>
        <p:spPr>
          <a:xfrm>
            <a:off x="1984949" y="2753799"/>
            <a:ext cx="8222101" cy="1350301"/>
          </a:xfrm>
          <a:prstGeom prst="rect">
            <a:avLst/>
          </a:prstGeom>
        </p:spPr>
        <p:txBody>
          <a:bodyPr lIns="91424" tIns="91424" rIns="91424" bIns="91424"/>
          <a:lstStyle>
            <a:lvl1pPr>
              <a:lnSpc>
                <a:spcPct val="100000"/>
              </a:lnSpc>
              <a:defRPr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4" name="Slide Number"/>
          <p:cNvSpPr txBox="1"/>
          <p:nvPr>
            <p:ph type="sldNum" sz="quarter" idx="2"/>
          </p:nvPr>
        </p:nvSpPr>
        <p:spPr>
          <a:xfrm>
            <a:off x="10259428" y="6355555"/>
            <a:ext cx="336813" cy="335251"/>
          </a:xfrm>
          <a:prstGeom prst="rect">
            <a:avLst/>
          </a:prstGeom>
        </p:spPr>
        <p:txBody>
          <a:bodyPr lIns="91424" tIns="91424" rIns="91424" bIns="91424"/>
          <a:lstStyle>
            <a:lvl1pPr>
              <a:def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25;p5"/>
          <p:cNvSpPr/>
          <p:nvPr/>
        </p:nvSpPr>
        <p:spPr>
          <a:xfrm flipH="1" rot="10800000">
            <a:off x="1524000" y="2247900"/>
            <a:ext cx="9144000" cy="46101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22" name="Google Shape;26;p5"/>
          <p:cNvSpPr/>
          <p:nvPr/>
        </p:nvSpPr>
        <p:spPr>
          <a:xfrm>
            <a:off x="1524000" y="2247999"/>
            <a:ext cx="9144000" cy="144901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/>
          </a:gra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23" name="Title Text"/>
          <p:cNvSpPr txBox="1"/>
          <p:nvPr>
            <p:ph type="title"/>
          </p:nvPr>
        </p:nvSpPr>
        <p:spPr>
          <a:xfrm>
            <a:off x="1995900" y="984967"/>
            <a:ext cx="8222100" cy="1023601"/>
          </a:xfrm>
          <a:prstGeom prst="rect">
            <a:avLst/>
          </a:prstGeom>
        </p:spPr>
        <p:txBody>
          <a:bodyPr lIns="91424" tIns="91424" rIns="91424" bIns="91424" anchor="b"/>
          <a:lstStyle>
            <a:lvl1pPr>
              <a:lnSpc>
                <a:spcPct val="100000"/>
              </a:lnSpc>
              <a:defRPr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4" name="Body Level One…"/>
          <p:cNvSpPr txBox="1"/>
          <p:nvPr>
            <p:ph type="body" sz="quarter" idx="1"/>
          </p:nvPr>
        </p:nvSpPr>
        <p:spPr>
          <a:xfrm>
            <a:off x="1995900" y="2558767"/>
            <a:ext cx="3999901" cy="3613501"/>
          </a:xfrm>
          <a:prstGeom prst="rect">
            <a:avLst/>
          </a:prstGeom>
        </p:spPr>
        <p:txBody>
          <a:bodyPr lIns="91424" tIns="91424" rIns="91424" bIns="91424"/>
          <a:lstStyle>
            <a:lvl1pPr indent="-317500">
              <a:lnSpc>
                <a:spcPct val="115000"/>
              </a:lnSpc>
              <a:spcBef>
                <a:spcPts val="0"/>
              </a:spcBef>
              <a:buClr>
                <a:srgbClr val="737373"/>
              </a:buClr>
              <a:buSzPts val="1400"/>
              <a:buFont typeface="Helvetica"/>
              <a:buChar char="●"/>
              <a:defRPr sz="14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65200" indent="-355600">
              <a:lnSpc>
                <a:spcPct val="115000"/>
              </a:lnSpc>
              <a:spcBef>
                <a:spcPts val="0"/>
              </a:spcBef>
              <a:buClr>
                <a:srgbClr val="737373"/>
              </a:buClr>
              <a:buSzPts val="1400"/>
              <a:buFont typeface="Helvetica"/>
              <a:buChar char="○"/>
              <a:defRPr sz="14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422400" indent="-355600">
              <a:lnSpc>
                <a:spcPct val="115000"/>
              </a:lnSpc>
              <a:spcBef>
                <a:spcPts val="0"/>
              </a:spcBef>
              <a:buClr>
                <a:srgbClr val="737373"/>
              </a:buClr>
              <a:buSzPts val="1400"/>
              <a:buFont typeface="Helvetica"/>
              <a:buChar char="■"/>
              <a:defRPr sz="14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79600" indent="-355600">
              <a:lnSpc>
                <a:spcPct val="115000"/>
              </a:lnSpc>
              <a:spcBef>
                <a:spcPts val="0"/>
              </a:spcBef>
              <a:buClr>
                <a:srgbClr val="737373"/>
              </a:buClr>
              <a:buSzPts val="1400"/>
              <a:buFont typeface="Helvetica"/>
              <a:buChar char="●"/>
              <a:defRPr sz="14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336800" indent="-355600">
              <a:lnSpc>
                <a:spcPct val="115000"/>
              </a:lnSpc>
              <a:spcBef>
                <a:spcPts val="0"/>
              </a:spcBef>
              <a:buClr>
                <a:srgbClr val="737373"/>
              </a:buClr>
              <a:buSzPts val="1400"/>
              <a:buFont typeface="Helvetica"/>
              <a:buChar char="○"/>
              <a:defRPr sz="14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5" name="Google Shape;29;p5"/>
          <p:cNvSpPr txBox="1"/>
          <p:nvPr>
            <p:ph type="body" sz="quarter" idx="21"/>
          </p:nvPr>
        </p:nvSpPr>
        <p:spPr>
          <a:xfrm>
            <a:off x="6218249" y="2558767"/>
            <a:ext cx="3999901" cy="3613501"/>
          </a:xfrm>
          <a:prstGeom prst="rect">
            <a:avLst/>
          </a:prstGeom>
        </p:spPr>
        <p:txBody>
          <a:bodyPr lIns="91424" tIns="91424" rIns="91424" bIns="91424"/>
          <a:lstStyle/>
          <a:p>
            <a:pPr indent="-317500">
              <a:lnSpc>
                <a:spcPct val="115000"/>
              </a:lnSpc>
              <a:spcBef>
                <a:spcPts val="0"/>
              </a:spcBef>
              <a:buClr>
                <a:srgbClr val="737373"/>
              </a:buClr>
              <a:buSzPts val="1400"/>
              <a:buFont typeface="Helvetica"/>
              <a:buChar char="●"/>
              <a:defRPr sz="14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pPr>
          </a:p>
        </p:txBody>
      </p:sp>
      <p:sp>
        <p:nvSpPr>
          <p:cNvPr id="126" name="Slide Number"/>
          <p:cNvSpPr txBox="1"/>
          <p:nvPr>
            <p:ph type="sldNum" sz="quarter" idx="2"/>
          </p:nvPr>
        </p:nvSpPr>
        <p:spPr>
          <a:xfrm>
            <a:off x="10259428" y="6355555"/>
            <a:ext cx="336813" cy="335251"/>
          </a:xfrm>
          <a:prstGeom prst="rect">
            <a:avLst/>
          </a:prstGeom>
        </p:spPr>
        <p:txBody>
          <a:bodyPr lIns="91424" tIns="91424" rIns="91424" bIns="91424"/>
          <a:lstStyle>
            <a:lvl1pPr>
              <a:defRPr sz="1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1550" marR="0" indent="-4000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508760" marR="0" indent="-48006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eg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Relationship Id="rId3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e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e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e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e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eg"/><Relationship Id="rId3" Type="http://schemas.openxmlformats.org/officeDocument/2006/relationships/image" Target="../media/image11.jpe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e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e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prateeksingh4864@gmail.com" TargetMode="External"/><Relationship Id="rId3" Type="http://schemas.openxmlformats.org/officeDocument/2006/relationships/hyperlink" Target="https://github.com/PrateekSinghRajput/Post-Graduate-Project-Details-2025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88;p1"/>
          <p:cNvSpPr txBox="1"/>
          <p:nvPr>
            <p:ph type="subTitle" sz="half" idx="1"/>
          </p:nvPr>
        </p:nvSpPr>
        <p:spPr>
          <a:xfrm>
            <a:off x="0" y="928453"/>
            <a:ext cx="12192000" cy="201375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81000"/>
              </a:lnSpc>
              <a:spcBef>
                <a:spcPts val="0"/>
              </a:spcBef>
            </a:pPr>
            <a:endParaRPr sz="1800">
              <a:latin typeface="Book Antiqua"/>
              <a:ea typeface="Book Antiqua"/>
              <a:cs typeface="Book Antiqua"/>
              <a:sym typeface="Book Antiqua"/>
            </a:endParaRPr>
          </a:p>
          <a:p>
            <a:pPr marL="0" indent="0">
              <a:lnSpc>
                <a:spcPct val="81000"/>
              </a:lnSpc>
              <a:spcBef>
                <a:spcPts val="0"/>
              </a:spcBef>
            </a:pPr>
            <a:endParaRPr sz="1800">
              <a:latin typeface="Book Antiqua"/>
              <a:ea typeface="Book Antiqua"/>
              <a:cs typeface="Book Antiqua"/>
              <a:sym typeface="Book Antiqua"/>
            </a:endParaRPr>
          </a:p>
          <a:p>
            <a:pPr marL="0" indent="0">
              <a:lnSpc>
                <a:spcPct val="81000"/>
              </a:lnSpc>
              <a:spcBef>
                <a:spcPts val="0"/>
              </a:spcBef>
              <a:defRPr sz="1800"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t>IEEE International Conference on Information, Implementation, and Innovation in Technology 2025</a:t>
            </a:r>
          </a:p>
          <a:p>
            <a:pPr marL="0" indent="0">
              <a:lnSpc>
                <a:spcPct val="81000"/>
              </a:lnSpc>
              <a:spcBef>
                <a:spcPts val="0"/>
              </a:spcBef>
            </a:pPr>
            <a:endParaRPr b="1" sz="28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lnSpc>
                <a:spcPct val="81000"/>
              </a:lnSpc>
              <a:spcBef>
                <a:spcPts val="0"/>
              </a:spcBef>
              <a:defRPr b="1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IEEE I2ITCON 2025</a:t>
            </a:r>
          </a:p>
          <a:p>
            <a:pPr marL="0" indent="0">
              <a:lnSpc>
                <a:spcPct val="81000"/>
              </a:lnSpc>
              <a:spcBef>
                <a:spcPts val="0"/>
              </a:spcBef>
            </a:pP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lnSpc>
                <a:spcPct val="81000"/>
              </a:lnSpc>
              <a:spcBef>
                <a:spcPts val="0"/>
              </a:spcBef>
              <a:defRPr b="1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4</a:t>
            </a:r>
            <a:r>
              <a:rPr baseline="30000"/>
              <a:t>th</a:t>
            </a:r>
            <a:r>
              <a:t>  July 2025</a:t>
            </a:r>
          </a:p>
        </p:txBody>
      </p:sp>
      <p:sp>
        <p:nvSpPr>
          <p:cNvPr id="136" name="Google Shape;89;p1"/>
          <p:cNvSpPr txBox="1"/>
          <p:nvPr/>
        </p:nvSpPr>
        <p:spPr>
          <a:xfrm>
            <a:off x="3265628" y="5270580"/>
            <a:ext cx="5394951" cy="1567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Prateek Singh</a:t>
            </a:r>
          </a:p>
          <a:p>
            <a:pPr algn="ctr"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Postgraduate Student, Electronics Engineering</a:t>
            </a:r>
          </a:p>
          <a:p>
            <a:pPr algn="ctr"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Dr. D. Y. Patil Institute of Technology Pimpri, Pune, India</a:t>
            </a:r>
          </a:p>
          <a:p>
            <a:pPr algn="ctr"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4</a:t>
            </a:r>
            <a:r>
              <a:rPr baseline="30000"/>
              <a:t>th</a:t>
            </a:r>
            <a:r>
              <a:t> July, 2025</a:t>
            </a:r>
          </a:p>
        </p:txBody>
      </p:sp>
      <p:pic>
        <p:nvPicPr>
          <p:cNvPr id="137" name="Google Shape;90;p1" descr="Google Shape;90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232" y="15999"/>
            <a:ext cx="1665029" cy="1091822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Google Shape;91;p1"/>
          <p:cNvSpPr txBox="1"/>
          <p:nvPr/>
        </p:nvSpPr>
        <p:spPr>
          <a:xfrm>
            <a:off x="45724" y="3135175"/>
            <a:ext cx="12100551" cy="1450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b">
            <a:spAutoFit/>
          </a:bodyPr>
          <a:lstStyle/>
          <a:p>
            <a:pPr algn="ctr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39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FieldNet: A LoRa-Powered IoT Framework</a:t>
            </a:r>
          </a:p>
          <a:p>
            <a:pPr algn="ctr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39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for Agricultural Automation</a:t>
            </a:r>
            <a:br/>
            <a:br/>
            <a:r>
              <a:t>(2092)</a:t>
            </a:r>
          </a:p>
        </p:txBody>
      </p:sp>
      <p:pic>
        <p:nvPicPr>
          <p:cNvPr id="139" name="Google Shape;92;p1" descr="Google Shape;92;p1"/>
          <p:cNvPicPr>
            <a:picLocks noChangeAspect="1"/>
          </p:cNvPicPr>
          <p:nvPr/>
        </p:nvPicPr>
        <p:blipFill>
          <a:blip r:embed="rId3">
            <a:extLst/>
          </a:blip>
          <a:srcRect l="14285" t="29317" r="19814" b="24023"/>
          <a:stretch>
            <a:fillRect/>
          </a:stretch>
        </p:blipFill>
        <p:spPr>
          <a:xfrm>
            <a:off x="10118558" y="122757"/>
            <a:ext cx="1869953" cy="8783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74;p14"/>
          <p:cNvSpPr txBox="1"/>
          <p:nvPr>
            <p:ph type="title"/>
          </p:nvPr>
        </p:nvSpPr>
        <p:spPr>
          <a:xfrm>
            <a:off x="1984950" y="1472097"/>
            <a:ext cx="8222100" cy="3913806"/>
          </a:xfrm>
          <a:prstGeom prst="rect">
            <a:avLst/>
          </a:prstGeom>
        </p:spPr>
        <p:txBody>
          <a:bodyPr/>
          <a:lstStyle/>
          <a:p>
            <a:pPr defTabSz="365760">
              <a:defRPr b="1"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Motivation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Literature Survey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Methodology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Design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Hardware Implementation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Working Flow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Results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Conclusion</a:t>
            </a:r>
          </a:p>
          <a:p>
            <a:pPr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References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b="1"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Challenges &amp; Future Work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🌱 Motivation"/>
          <p:cNvSpPr txBox="1"/>
          <p:nvPr>
            <p:ph type="title"/>
          </p:nvPr>
        </p:nvSpPr>
        <p:spPr>
          <a:xfrm>
            <a:off x="47763" y="-2176"/>
            <a:ext cx="10515601" cy="132556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b="1" sz="6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🌱 </a:t>
            </a:r>
            <a:r>
              <a:rPr>
                <a:solidFill>
                  <a:schemeClr val="accent1"/>
                </a:solidFill>
              </a:rPr>
              <a:t>Motivation</a:t>
            </a:r>
          </a:p>
        </p:txBody>
      </p:sp>
      <p:sp>
        <p:nvSpPr>
          <p:cNvPr id="146" name="Need for real-time, reliable, and long-range agriculture monitoring…"/>
          <p:cNvSpPr txBox="1"/>
          <p:nvPr/>
        </p:nvSpPr>
        <p:spPr>
          <a:xfrm>
            <a:off x="-43921" y="1956386"/>
            <a:ext cx="12279842" cy="3491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91289" indent="-300789" algn="just">
              <a:lnSpc>
                <a:spcPct val="120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Need for real-time, reliable, and long-range agriculture monitoring</a:t>
            </a:r>
          </a:p>
          <a:p>
            <a:pPr algn="just">
              <a:lnSpc>
                <a:spcPct val="120000"/>
              </a:lnSpc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491289" indent="-300789" algn="just">
              <a:lnSpc>
                <a:spcPct val="120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Traditional methods are manual, time-consuming, and less accurate</a:t>
            </a:r>
          </a:p>
          <a:p>
            <a:pPr algn="just">
              <a:lnSpc>
                <a:spcPct val="120000"/>
              </a:lnSpc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491289" indent="-300789" algn="just">
              <a:lnSpc>
                <a:spcPct val="120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Existing wireless tech is either short-range, high-power, or expensive</a:t>
            </a:r>
          </a:p>
          <a:p>
            <a:pPr algn="just">
              <a:lnSpc>
                <a:spcPct val="120000"/>
              </a:lnSpc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491289" indent="-300789" algn="just">
              <a:lnSpc>
                <a:spcPct val="120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LoRa offers a solution</a:t>
            </a:r>
          </a:p>
          <a:p>
            <a:pPr marL="511342" indent="-320842">
              <a:lnSpc>
                <a:spcPct val="90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⚡ Low power</a:t>
            </a:r>
          </a:p>
          <a:p>
            <a:pPr marL="511342" indent="-320842">
              <a:lnSpc>
                <a:spcPct val="90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📡 Long range</a:t>
            </a:r>
          </a:p>
          <a:p>
            <a:pPr marL="511342" indent="-320842">
              <a:lnSpc>
                <a:spcPct val="90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💰 Cost-effective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74;p14"/>
          <p:cNvSpPr txBox="1"/>
          <p:nvPr>
            <p:ph type="title"/>
          </p:nvPr>
        </p:nvSpPr>
        <p:spPr>
          <a:xfrm>
            <a:off x="1984950" y="1472097"/>
            <a:ext cx="8222100" cy="3913806"/>
          </a:xfrm>
          <a:prstGeom prst="rect">
            <a:avLst/>
          </a:prstGeom>
        </p:spPr>
        <p:txBody>
          <a:bodyPr/>
          <a:lstStyle/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Motivation</a:t>
            </a:r>
          </a:p>
          <a:p>
            <a:pPr defTabSz="365760">
              <a:defRPr b="1"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Literature Survey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Methodology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Design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Hardware Implementation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Working Flow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Results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Conclusion</a:t>
            </a:r>
          </a:p>
          <a:p>
            <a:pPr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References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b="1"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Challenges &amp; Future Work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📚 Literature Survey"/>
          <p:cNvSpPr txBox="1"/>
          <p:nvPr>
            <p:ph type="title"/>
          </p:nvPr>
        </p:nvSpPr>
        <p:spPr>
          <a:xfrm>
            <a:off x="47763" y="-2176"/>
            <a:ext cx="10515601" cy="132556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b="1" sz="6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📚</a:t>
            </a:r>
            <a:r>
              <a:rPr>
                <a:solidFill>
                  <a:schemeClr val="accent1"/>
                </a:solidFill>
              </a:rPr>
              <a:t> Literature Survey</a:t>
            </a:r>
          </a:p>
        </p:txBody>
      </p:sp>
      <p:sp>
        <p:nvSpPr>
          <p:cNvPr id="153" name="1. LoRa-Based Smart Agriculture Monitoring and Automatic Irrigation System, Xiaoming Ding et al., 2024…"/>
          <p:cNvSpPr txBox="1"/>
          <p:nvPr/>
        </p:nvSpPr>
        <p:spPr>
          <a:xfrm>
            <a:off x="85577" y="1292403"/>
            <a:ext cx="12020847" cy="5605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77800" algn="just">
              <a:defRPr b="1"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1. LoRa-Based Smart Agriculture Monitoring and Automatic Irrigation System, Xiaoming Ding et al., 2024</a:t>
            </a:r>
          </a:p>
          <a:p>
            <a:pPr indent="177800" algn="just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Address inefficiencies in traditional agriculture, such as water waste and lack of real-time monitoring, by implementing a LoRa-based wireless system.</a:t>
            </a:r>
          </a:p>
          <a:p>
            <a:pPr indent="177800" algn="just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Developed a system with sensor nodes, gateways, and actuator nodes. Data is collected and transmitted via LoRa, visualised in real time using Blynk, and stored/analysed on ThingSpeak.</a:t>
            </a:r>
          </a:p>
          <a:p>
            <a:pPr indent="177800" algn="just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177800" algn="just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Key Findings</a:t>
            </a:r>
          </a:p>
          <a:p>
            <a:pPr indent="177800" algn="just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- Achieved reliable long-range communication (&gt;6 km) with low power consumption.</a:t>
            </a:r>
          </a:p>
          <a:p>
            <a:pPr indent="177800" algn="just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- Enabled automated irrigation based on real-time sensor data and user commands.</a:t>
            </a:r>
          </a:p>
          <a:p>
            <a:pPr indent="1778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177800">
              <a:defRPr b="1"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2. Optimising Performances of LoRa-Based IoT Enabled Wireless Agriculture Science Direct, 2023</a:t>
            </a:r>
          </a:p>
          <a:p>
            <a:pPr indent="1778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Optimise LoRa parameter settings for affordable, scalable monitoring on fruit and vegetable farms.</a:t>
            </a:r>
          </a:p>
          <a:p>
            <a:pPr indent="1778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Experimented with LoRa configurations (spreading factor, bandwidth, transmission power) to maximise coverage and minimise energy use.</a:t>
            </a:r>
          </a:p>
          <a:p>
            <a:pPr indent="1778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1778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Key Findings </a:t>
            </a:r>
          </a:p>
          <a:p>
            <a:pPr indent="1778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- Proper tuning of LoRa parameters can significantly extend battery life and coverage.</a:t>
            </a:r>
          </a:p>
          <a:p>
            <a:pPr indent="1778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- Demonstrated the importance of balancing data rate and range for agricultural deployments.</a:t>
            </a:r>
          </a:p>
          <a:p>
            <a:pPr indent="1778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177800">
              <a:defRPr b="1"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3.An Efficient LoRa Smart Agriculture Platform Using WSNs JETIR, 2023 </a:t>
            </a:r>
          </a:p>
          <a:p>
            <a:pPr indent="1778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Build a LoRa-based smart agriculture management and monitoring system using wireless sensor networks (WSNs).</a:t>
            </a:r>
          </a:p>
          <a:p>
            <a:pPr indent="1778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Created a private LoRa network interfaced with a gateway, collecting data from end nodes and transmitting it to the cloud for user applications.</a:t>
            </a:r>
          </a:p>
          <a:p>
            <a:pPr indent="1778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1778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Key Findings </a:t>
            </a:r>
          </a:p>
          <a:p>
            <a:pPr indent="1778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- LoRa solves communication failure and energy-saving challenges in rural agricultural monitoring.</a:t>
            </a:r>
          </a:p>
          <a:p>
            <a:pPr indent="1778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- Field tests confirmed satisfactory coverage and low power operation, even in dense environments.</a:t>
            </a:r>
          </a:p>
          <a:p>
            <a:pPr indent="177800"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74;p14"/>
          <p:cNvSpPr txBox="1"/>
          <p:nvPr>
            <p:ph type="title"/>
          </p:nvPr>
        </p:nvSpPr>
        <p:spPr>
          <a:xfrm>
            <a:off x="1984950" y="1472097"/>
            <a:ext cx="8222100" cy="3913806"/>
          </a:xfrm>
          <a:prstGeom prst="rect">
            <a:avLst/>
          </a:prstGeom>
        </p:spPr>
        <p:txBody>
          <a:bodyPr/>
          <a:lstStyle/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Motivation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Literature Survey</a:t>
            </a:r>
          </a:p>
          <a:p>
            <a:pPr defTabSz="365760">
              <a:defRPr b="1"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Methodology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Design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Hardware Implementation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Working Flow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Results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Conclusion</a:t>
            </a:r>
          </a:p>
          <a:p>
            <a:pPr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References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b="1"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Challenges &amp; Future Work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🛠️ Previous Method"/>
          <p:cNvSpPr txBox="1"/>
          <p:nvPr>
            <p:ph type="title"/>
          </p:nvPr>
        </p:nvSpPr>
        <p:spPr>
          <a:xfrm>
            <a:off x="47763" y="9673"/>
            <a:ext cx="10515601" cy="132556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b="1" sz="6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🛠️ </a:t>
            </a:r>
            <a:r>
              <a:rPr>
                <a:solidFill>
                  <a:schemeClr val="accent1"/>
                </a:solidFill>
              </a:rPr>
              <a:t>Previous Method</a:t>
            </a:r>
          </a:p>
        </p:txBody>
      </p:sp>
      <p:pic>
        <p:nvPicPr>
          <p:cNvPr id="160" name="5.jpg" descr="5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6479" y="3213410"/>
            <a:ext cx="2638145" cy="1023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11.png" descr="1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19004" y="2595942"/>
            <a:ext cx="1831696" cy="20386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nrf.jpg" descr="nrf.jp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277536" y="3000079"/>
            <a:ext cx="3023592" cy="1430078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Google Shape;101;p18"/>
          <p:cNvSpPr txBox="1"/>
          <p:nvPr/>
        </p:nvSpPr>
        <p:spPr>
          <a:xfrm>
            <a:off x="263778" y="1777227"/>
            <a:ext cx="8222100" cy="102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sz="17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RF Module</a:t>
            </a:r>
          </a:p>
        </p:txBody>
      </p:sp>
      <p:sp>
        <p:nvSpPr>
          <p:cNvPr id="164" name="Google Shape;101;p18"/>
          <p:cNvSpPr txBox="1"/>
          <p:nvPr/>
        </p:nvSpPr>
        <p:spPr>
          <a:xfrm>
            <a:off x="8927618" y="1777227"/>
            <a:ext cx="8222100" cy="102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sz="17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RF NRF Module</a:t>
            </a:r>
          </a:p>
        </p:txBody>
      </p:sp>
      <p:sp>
        <p:nvSpPr>
          <p:cNvPr id="165" name="Easy For RF-based Application.…"/>
          <p:cNvSpPr txBox="1"/>
          <p:nvPr/>
        </p:nvSpPr>
        <p:spPr>
          <a:xfrm>
            <a:off x="298607" y="4645524"/>
            <a:ext cx="3023592" cy="1023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lnSpc>
                <a:spcPct val="120000"/>
              </a:lnSpc>
              <a:defRPr sz="1200">
                <a:solidFill>
                  <a:srgbClr val="333E4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marL="457200" indent="-317500" defTabSz="457200">
              <a:lnSpc>
                <a:spcPct val="120000"/>
              </a:lnSpc>
              <a:buClr>
                <a:srgbClr val="333E48"/>
              </a:buClr>
              <a:buSzPct val="100000"/>
              <a:buFont typeface="Helvetica Neue"/>
              <a:buAutoNum type="arabicPeriod" startAt="1"/>
              <a:defRPr sz="1200">
                <a:solidFill>
                  <a:srgbClr val="333E4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Easy For RF-based Application.</a:t>
            </a:r>
          </a:p>
          <a:p>
            <a:pPr marL="457200" indent="-317500" defTabSz="457200">
              <a:lnSpc>
                <a:spcPct val="120000"/>
              </a:lnSpc>
              <a:buClr>
                <a:srgbClr val="333E48"/>
              </a:buClr>
              <a:buSzPct val="100000"/>
              <a:buFont typeface="Helvetica Neue"/>
              <a:buAutoNum type="arabicPeriod" startAt="1"/>
              <a:defRPr sz="1200">
                <a:solidFill>
                  <a:srgbClr val="333E4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Complete Radio Transmitter.</a:t>
            </a:r>
          </a:p>
          <a:p>
            <a:pPr marL="457200" indent="-317500" defTabSz="457200">
              <a:lnSpc>
                <a:spcPct val="120000"/>
              </a:lnSpc>
              <a:buClr>
                <a:srgbClr val="333E48"/>
              </a:buClr>
              <a:buSzPct val="100000"/>
              <a:buFont typeface="Helvetica Neue"/>
              <a:buAutoNum type="arabicPeriod" startAt="1"/>
              <a:defRPr sz="1200">
                <a:solidFill>
                  <a:srgbClr val="333E4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Transmit Range Up To 50m.</a:t>
            </a:r>
          </a:p>
          <a:p>
            <a:pPr marL="457200" indent="-317500" defTabSz="457200">
              <a:lnSpc>
                <a:spcPct val="120000"/>
              </a:lnSpc>
              <a:buClr>
                <a:srgbClr val="333E48"/>
              </a:buClr>
              <a:buSzPct val="100000"/>
              <a:buFont typeface="Helvetica Neue"/>
              <a:buAutoNum type="arabicPeriod" startAt="1"/>
              <a:defRPr sz="1200">
                <a:solidFill>
                  <a:srgbClr val="333E4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CMOS / TTL Input.</a:t>
            </a:r>
          </a:p>
        </p:txBody>
      </p:sp>
      <p:sp>
        <p:nvSpPr>
          <p:cNvPr id="166" name="Integrated, Wire Antenna…"/>
          <p:cNvSpPr txBox="1"/>
          <p:nvPr/>
        </p:nvSpPr>
        <p:spPr>
          <a:xfrm>
            <a:off x="3805661" y="4789877"/>
            <a:ext cx="3910483" cy="811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57200" indent="-317500" defTabSz="457200">
              <a:lnSpc>
                <a:spcPct val="120000"/>
              </a:lnSpc>
              <a:buClr>
                <a:srgbClr val="333E48"/>
              </a:buClr>
              <a:buSzPct val="100000"/>
              <a:buFont typeface="Helvetica Neue"/>
              <a:buAutoNum type="arabicPeriod" startAt="1"/>
              <a:defRPr sz="1200">
                <a:solidFill>
                  <a:srgbClr val="333E4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Integrated, Wire Antenna</a:t>
            </a:r>
          </a:p>
          <a:p>
            <a:pPr marL="457200" indent="-317500" defTabSz="457200">
              <a:lnSpc>
                <a:spcPct val="120000"/>
              </a:lnSpc>
              <a:buClr>
                <a:srgbClr val="333E48"/>
              </a:buClr>
              <a:buSzPct val="100000"/>
              <a:buFont typeface="Helvetica Neue"/>
              <a:buAutoNum type="arabicPeriod" startAt="1"/>
              <a:defRPr sz="1200">
                <a:solidFill>
                  <a:srgbClr val="333E4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15 general-purpose I/O lines</a:t>
            </a:r>
          </a:p>
          <a:p>
            <a:pPr marL="457200" indent="-317500" defTabSz="457200">
              <a:lnSpc>
                <a:spcPct val="120000"/>
              </a:lnSpc>
              <a:buClr>
                <a:srgbClr val="333E48"/>
              </a:buClr>
              <a:buSzPct val="100000"/>
              <a:buFont typeface="Helvetica Neue"/>
              <a:buAutoNum type="arabicPeriod" startAt="1"/>
              <a:defRPr sz="1200">
                <a:solidFill>
                  <a:srgbClr val="333E4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Industry-leading sleep current of sub 1 µA</a:t>
            </a:r>
          </a:p>
          <a:p>
            <a:pPr marL="457200" indent="-317500" defTabSz="457200">
              <a:lnSpc>
                <a:spcPct val="120000"/>
              </a:lnSpc>
              <a:buClr>
                <a:srgbClr val="333E48"/>
              </a:buClr>
              <a:buSzPct val="100000"/>
              <a:buFont typeface="Helvetica Neue"/>
              <a:buAutoNum type="arabicPeriod" startAt="1"/>
              <a:defRPr sz="1200">
                <a:solidFill>
                  <a:srgbClr val="333E4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Transmit Range Up To 1km.</a:t>
            </a:r>
          </a:p>
        </p:txBody>
      </p:sp>
      <p:sp>
        <p:nvSpPr>
          <p:cNvPr id="167" name="Power-down mode current: 4.2uA.…"/>
          <p:cNvSpPr txBox="1"/>
          <p:nvPr/>
        </p:nvSpPr>
        <p:spPr>
          <a:xfrm>
            <a:off x="8199606" y="4634619"/>
            <a:ext cx="3061158" cy="1023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lnSpc>
                <a:spcPct val="120000"/>
              </a:lnSpc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marL="457200" indent="-317500" defTabSz="457200">
              <a:lnSpc>
                <a:spcPct val="120000"/>
              </a:lnSpc>
              <a:buClr>
                <a:srgbClr val="7D7D7D"/>
              </a:buClr>
              <a:buSzPct val="100000"/>
              <a:buFont typeface="Helvetica Neue"/>
              <a:buAutoNum type="arabicPeriod" startAt="1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Power-down mode current: 4.2uA.</a:t>
            </a:r>
          </a:p>
          <a:p>
            <a:pPr marL="457200" indent="-317500" defTabSz="457200">
              <a:lnSpc>
                <a:spcPct val="120000"/>
              </a:lnSpc>
              <a:buClr>
                <a:srgbClr val="7D7D7D"/>
              </a:buClr>
              <a:buSzPct val="100000"/>
              <a:buFont typeface="Helvetica Neue"/>
              <a:buAutoNum type="arabicPeriod" startAt="1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Operating Range: 1Km</a:t>
            </a:r>
          </a:p>
          <a:p>
            <a:pPr marL="457200" indent="-317500" defTabSz="457200">
              <a:lnSpc>
                <a:spcPct val="120000"/>
              </a:lnSpc>
              <a:buClr>
                <a:srgbClr val="7D7D7D"/>
              </a:buClr>
              <a:buSzPct val="100000"/>
              <a:buFont typeface="Helvetica Neue"/>
              <a:buAutoNum type="arabicPeriod" startAt="1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Receive Mode Current(peak): 45mA</a:t>
            </a:r>
          </a:p>
          <a:p>
            <a:pPr marL="457200" indent="-317500" defTabSz="457200">
              <a:lnSpc>
                <a:spcPct val="120000"/>
              </a:lnSpc>
              <a:buClr>
                <a:srgbClr val="7D7D7D"/>
              </a:buClr>
              <a:buSzPct val="100000"/>
              <a:buFont typeface="Helvetica Neue"/>
              <a:buAutoNum type="arabicPeriod" startAt="1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It uses 2.4GHz global open ISM band.</a:t>
            </a:r>
          </a:p>
        </p:txBody>
      </p:sp>
      <p:sp>
        <p:nvSpPr>
          <p:cNvPr id="168" name="Google Shape;101;p18"/>
          <p:cNvSpPr txBox="1"/>
          <p:nvPr/>
        </p:nvSpPr>
        <p:spPr>
          <a:xfrm>
            <a:off x="3838661" y="1764527"/>
            <a:ext cx="8222100" cy="102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>
              <a:defRPr sz="17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RF zigbee Module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🧪 Design Method"/>
          <p:cNvSpPr txBox="1"/>
          <p:nvPr>
            <p:ph type="title"/>
          </p:nvPr>
        </p:nvSpPr>
        <p:spPr>
          <a:xfrm>
            <a:off x="47763" y="9673"/>
            <a:ext cx="10515601" cy="132556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b="1" sz="6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🧪</a:t>
            </a:r>
            <a:r>
              <a:rPr>
                <a:solidFill>
                  <a:schemeClr val="accent1"/>
                </a:solidFill>
              </a:rPr>
              <a:t> Design Method</a:t>
            </a:r>
          </a:p>
        </p:txBody>
      </p:sp>
      <p:pic>
        <p:nvPicPr>
          <p:cNvPr id="171" name="2.jpg" descr="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5399398">
            <a:off x="-24841" y="2011106"/>
            <a:ext cx="3987900" cy="398789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" name="4.png" descr="4.png"/>
          <p:cNvPicPr>
            <a:picLocks noChangeAspect="1"/>
          </p:cNvPicPr>
          <p:nvPr/>
        </p:nvPicPr>
        <p:blipFill>
          <a:blip r:embed="rId3">
            <a:extLst/>
          </a:blip>
          <a:srcRect l="18808" t="0" r="0" b="39408"/>
          <a:stretch>
            <a:fillRect/>
          </a:stretch>
        </p:blipFill>
        <p:spPr>
          <a:xfrm>
            <a:off x="3560856" y="2771369"/>
            <a:ext cx="3684459" cy="2416742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📡 Long Range Transmits data reliably across several kilometers, covering large farms and remote fields…"/>
          <p:cNvSpPr txBox="1"/>
          <p:nvPr/>
        </p:nvSpPr>
        <p:spPr>
          <a:xfrm>
            <a:off x="7174327" y="843922"/>
            <a:ext cx="4887993" cy="526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90000"/>
              </a:lnSpc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📡 Long Range</a:t>
            </a:r>
            <a:br/>
            <a:r>
              <a:t>Transmits data reliably across several kilometers, covering large farms and remote fields</a:t>
            </a:r>
          </a:p>
          <a:p>
            <a:pPr algn="just">
              <a:lnSpc>
                <a:spcPct val="90000"/>
              </a:lnSpc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just">
              <a:lnSpc>
                <a:spcPct val="90000"/>
              </a:lnSpc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⚡ Low Power Consumption</a:t>
            </a:r>
            <a:br/>
            <a:r>
              <a:t>Sensors can operate for years (up to 15 years in some cases) </a:t>
            </a:r>
          </a:p>
          <a:p>
            <a:pPr algn="just">
              <a:lnSpc>
                <a:spcPct val="90000"/>
              </a:lnSpc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just">
              <a:lnSpc>
                <a:spcPct val="90000"/>
              </a:lnSpc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💰 Cost-Effective</a:t>
            </a:r>
            <a:br/>
            <a:r>
              <a:t>Lower setup and operational costs compared to cellular or other wireless solutions</a:t>
            </a:r>
          </a:p>
          <a:p>
            <a:pPr algn="just">
              <a:lnSpc>
                <a:spcPct val="90000"/>
              </a:lnSpc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just">
              <a:lnSpc>
                <a:spcPct val="90000"/>
              </a:lnSpc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🛡️ Robust and Reliable</a:t>
            </a:r>
            <a:br/>
            <a:r>
              <a:t>Strong signal penetration through obstacles resistance to interference, and secure, encrypted data transmission.</a:t>
            </a:r>
          </a:p>
          <a:p>
            <a:pPr algn="just">
              <a:lnSpc>
                <a:spcPct val="90000"/>
              </a:lnSpc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just">
              <a:lnSpc>
                <a:spcPct val="90000"/>
              </a:lnSpc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🔗 Easy Integration &amp; Scalability</a:t>
            </a:r>
          </a:p>
          <a:p>
            <a:pPr algn="just">
              <a:lnSpc>
                <a:spcPct val="90000"/>
              </a:lnSpc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supports many sensor nodes</a:t>
            </a:r>
          </a:p>
        </p:txBody>
      </p:sp>
      <p:sp>
        <p:nvSpPr>
          <p:cNvPr id="174" name="Frequency Bands 169 MHz, 433 MHz, 868 MHz and 915 MHz"/>
          <p:cNvSpPr txBox="1"/>
          <p:nvPr/>
        </p:nvSpPr>
        <p:spPr>
          <a:xfrm>
            <a:off x="452649" y="5830320"/>
            <a:ext cx="859439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95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Frequency Bands 169 MHz, 433 MHz, 868 MHz and 915 MHz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74;p14"/>
          <p:cNvSpPr txBox="1"/>
          <p:nvPr>
            <p:ph type="title"/>
          </p:nvPr>
        </p:nvSpPr>
        <p:spPr>
          <a:xfrm>
            <a:off x="1984950" y="1472097"/>
            <a:ext cx="8222100" cy="3913806"/>
          </a:xfrm>
          <a:prstGeom prst="rect">
            <a:avLst/>
          </a:prstGeom>
        </p:spPr>
        <p:txBody>
          <a:bodyPr/>
          <a:lstStyle/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Motivation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Literature Survey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Methodology</a:t>
            </a:r>
          </a:p>
          <a:p>
            <a:pPr defTabSz="365760">
              <a:defRPr b="1"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Design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Hardware Implementation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Working Flow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Results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Conclusion</a:t>
            </a:r>
          </a:p>
          <a:p>
            <a:pPr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References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b="1"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Challenges &amp; Future Work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⚡ Block Diagram"/>
          <p:cNvSpPr txBox="1"/>
          <p:nvPr>
            <p:ph type="title"/>
          </p:nvPr>
        </p:nvSpPr>
        <p:spPr>
          <a:xfrm>
            <a:off x="47763" y="-2176"/>
            <a:ext cx="10515601" cy="132556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b="1" sz="6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⚡ </a:t>
            </a:r>
            <a:r>
              <a:rPr>
                <a:solidFill>
                  <a:schemeClr val="accent1"/>
                </a:solidFill>
              </a:rPr>
              <a:t>Block Diagram</a:t>
            </a:r>
          </a:p>
        </p:txBody>
      </p:sp>
      <p:pic>
        <p:nvPicPr>
          <p:cNvPr id="181" name="Block Diagram.jpeg" descr="Block Diagram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42552" y="1538921"/>
            <a:ext cx="9678591" cy="53283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🧠 RISC Microcontroller Central processing unit that collects sensor data and manages communication.…"/>
          <p:cNvSpPr txBox="1"/>
          <p:nvPr/>
        </p:nvSpPr>
        <p:spPr>
          <a:xfrm>
            <a:off x="240441" y="880120"/>
            <a:ext cx="11711118" cy="5097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67368" indent="-267368" algn="just">
              <a:buSzPct val="100000"/>
              <a:buAutoNum type="arabicPeriod" startAt="1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🧠 RISC Microcontroller</a:t>
            </a:r>
            <a:br/>
            <a:r>
              <a:t>Central processing unit that collects sensor data and manages communication.</a:t>
            </a:r>
          </a:p>
          <a:p>
            <a:pPr algn="just"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67368" indent="-267368" algn="just">
              <a:buSzPct val="100000"/>
              <a:buAutoNum type="arabicPeriod" startAt="2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🌱 Soil Sensors (NPK, Moisture, Temperature)</a:t>
            </a:r>
            <a:br/>
            <a:r>
              <a:t>Measure key soil parameters to monitor nutrient levels and environmental conditions.</a:t>
            </a:r>
          </a:p>
          <a:p>
            <a:pPr algn="just"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67368" indent="-267368" algn="just">
              <a:buSzPct val="100000"/>
              <a:buAutoNum type="arabicPeriod" startAt="3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📡 LoRa Module (SX1278)</a:t>
            </a:r>
            <a:br/>
            <a:r>
              <a:t>Enables long-range, low-power wireless transmission of sensor data to the gateway.</a:t>
            </a:r>
          </a:p>
          <a:p>
            <a:pPr algn="just"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67368" indent="-267368" algn="just">
              <a:buSzPct val="100000"/>
              <a:buAutoNum type="arabicPeriod" startAt="4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🖥️ Local Displays (OLED)</a:t>
            </a:r>
            <a:br/>
            <a:r>
              <a:t>Show real-time sensor readings on-site for immediate monitoring.</a:t>
            </a:r>
          </a:p>
          <a:p>
            <a:pPr algn="just"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67368" indent="-267368" algn="just">
              <a:buSzPct val="100000"/>
              <a:buAutoNum type="arabicPeriod" startAt="5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☁️ Cloud/Server &amp; User Interface</a:t>
            </a:r>
            <a:br/>
            <a:r>
              <a:t>Stores, visualizes, and analyzes data remotely </a:t>
            </a:r>
          </a:p>
          <a:p>
            <a:pPr algn="just"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allows farmers to monitor and control irrigation via web or mobile apps.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74;p14"/>
          <p:cNvSpPr txBox="1"/>
          <p:nvPr>
            <p:ph type="title"/>
          </p:nvPr>
        </p:nvSpPr>
        <p:spPr>
          <a:xfrm>
            <a:off x="1984950" y="1472097"/>
            <a:ext cx="8222100" cy="3913806"/>
          </a:xfrm>
          <a:prstGeom prst="rect">
            <a:avLst/>
          </a:prstGeom>
        </p:spPr>
        <p:txBody>
          <a:bodyPr/>
          <a:lstStyle/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Motivation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Literature Survey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Methodology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Design</a:t>
            </a:r>
          </a:p>
          <a:p>
            <a:pPr defTabSz="365760">
              <a:defRPr b="1"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Hardware Implementation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Working Flow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Results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Conclusion</a:t>
            </a:r>
          </a:p>
          <a:p>
            <a:pPr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References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b="1"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Challenges &amp; Future Work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📤 Node_1"/>
          <p:cNvSpPr txBox="1"/>
          <p:nvPr>
            <p:ph type="title"/>
          </p:nvPr>
        </p:nvSpPr>
        <p:spPr>
          <a:xfrm>
            <a:off x="47763" y="9673"/>
            <a:ext cx="10515601" cy="132556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b="1" sz="6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📤 </a:t>
            </a:r>
            <a:r>
              <a:rPr>
                <a:solidFill>
                  <a:schemeClr val="accent1"/>
                </a:solidFill>
              </a:rPr>
              <a:t>Node_1</a:t>
            </a:r>
          </a:p>
        </p:txBody>
      </p:sp>
      <p:pic>
        <p:nvPicPr>
          <p:cNvPr id="190" name="Node_1.jpg" descr="Node_1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3005" y="1601824"/>
            <a:ext cx="9325990" cy="51347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📤 Node_2"/>
          <p:cNvSpPr txBox="1"/>
          <p:nvPr>
            <p:ph type="title"/>
          </p:nvPr>
        </p:nvSpPr>
        <p:spPr>
          <a:xfrm>
            <a:off x="47763" y="-2176"/>
            <a:ext cx="10515601" cy="132556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b="1" sz="6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📤 </a:t>
            </a:r>
            <a:r>
              <a:rPr>
                <a:solidFill>
                  <a:schemeClr val="accent1"/>
                </a:solidFill>
              </a:rPr>
              <a:t>Node_2</a:t>
            </a:r>
          </a:p>
        </p:txBody>
      </p:sp>
      <p:pic>
        <p:nvPicPr>
          <p:cNvPr id="193" name="Node_2.jpg" descr="Node_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92412" y="1419361"/>
            <a:ext cx="8509543" cy="52163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📥 Transceiver"/>
          <p:cNvSpPr txBox="1"/>
          <p:nvPr>
            <p:ph type="title"/>
          </p:nvPr>
        </p:nvSpPr>
        <p:spPr>
          <a:xfrm>
            <a:off x="59612" y="-14024"/>
            <a:ext cx="10515601" cy="132556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b="1" sz="6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📥 </a:t>
            </a:r>
            <a:r>
              <a:rPr>
                <a:solidFill>
                  <a:schemeClr val="accent1"/>
                </a:solidFill>
              </a:rPr>
              <a:t>Transceiver</a:t>
            </a:r>
          </a:p>
        </p:txBody>
      </p:sp>
      <p:pic>
        <p:nvPicPr>
          <p:cNvPr id="196" name="Trans_Receiver.jpg" descr="Trans_Receiver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7635" y="1365891"/>
            <a:ext cx="9736730" cy="50697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74;p14"/>
          <p:cNvSpPr txBox="1"/>
          <p:nvPr>
            <p:ph type="title"/>
          </p:nvPr>
        </p:nvSpPr>
        <p:spPr>
          <a:xfrm>
            <a:off x="1984950" y="1472097"/>
            <a:ext cx="8222100" cy="3913806"/>
          </a:xfrm>
          <a:prstGeom prst="rect">
            <a:avLst/>
          </a:prstGeom>
        </p:spPr>
        <p:txBody>
          <a:bodyPr/>
          <a:lstStyle/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Motivation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Literature Survey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Methodology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Design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Hardware Implementation</a:t>
            </a:r>
          </a:p>
          <a:p>
            <a:pPr defTabSz="365760">
              <a:defRPr b="1"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Working Flow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Results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Conclusion</a:t>
            </a:r>
          </a:p>
          <a:p>
            <a:pPr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References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b="1"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Challenges &amp; Future Work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⏳ Working Flow"/>
          <p:cNvSpPr txBox="1"/>
          <p:nvPr>
            <p:ph type="title"/>
          </p:nvPr>
        </p:nvSpPr>
        <p:spPr>
          <a:xfrm>
            <a:off x="24067" y="-32734"/>
            <a:ext cx="10515601" cy="132556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b="1" sz="6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⏳ </a:t>
            </a:r>
            <a:r>
              <a:rPr>
                <a:solidFill>
                  <a:schemeClr val="accent1"/>
                </a:solidFill>
              </a:rPr>
              <a:t>Working Flow</a:t>
            </a:r>
          </a:p>
        </p:txBody>
      </p:sp>
      <p:sp>
        <p:nvSpPr>
          <p:cNvPr id="203" name="Sensors Date…"/>
          <p:cNvSpPr txBox="1"/>
          <p:nvPr/>
        </p:nvSpPr>
        <p:spPr>
          <a:xfrm>
            <a:off x="7172227" y="1665530"/>
            <a:ext cx="3795813" cy="4667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1600"/>
            </a:pPr>
            <a:r>
              <a:t>Sensors Date</a:t>
            </a:r>
          </a:p>
          <a:p>
            <a:pPr>
              <a:defRPr sz="1600"/>
            </a:pPr>
            <a:r>
              <a:t>     ↓</a:t>
            </a:r>
          </a:p>
          <a:p>
            <a:pPr>
              <a:defRPr sz="1600"/>
            </a:pPr>
            <a:r>
              <a:t>RISC Controller </a:t>
            </a:r>
          </a:p>
          <a:p>
            <a:pPr>
              <a:defRPr sz="1600"/>
            </a:pPr>
            <a:r>
              <a:t>     ↓</a:t>
            </a:r>
          </a:p>
          <a:p>
            <a:pPr>
              <a:defRPr sz="1600"/>
            </a:pPr>
            <a:r>
              <a:t>LoRa Transceiver</a:t>
            </a:r>
          </a:p>
          <a:p>
            <a:pPr>
              <a:defRPr sz="1600"/>
            </a:pPr>
            <a:r>
              <a:t>     ↓</a:t>
            </a:r>
          </a:p>
          <a:p>
            <a:pPr>
              <a:defRPr sz="1600"/>
            </a:pPr>
            <a:r>
              <a:t>Gateway (RISC Controller + Display)</a:t>
            </a:r>
          </a:p>
          <a:p>
            <a:pPr>
              <a:defRPr sz="1600"/>
            </a:pPr>
            <a:r>
              <a:t>     ↓</a:t>
            </a:r>
          </a:p>
          <a:p>
            <a:pPr>
              <a:defRPr sz="1600">
                <a:solidFill>
                  <a:srgbClr val="DB4437"/>
                </a:solidFill>
              </a:defRPr>
            </a:pPr>
            <a:r>
              <a:t>Firebase Database</a:t>
            </a:r>
          </a:p>
          <a:p>
            <a:pPr>
              <a:defRPr sz="1600"/>
            </a:pPr>
            <a:r>
              <a:t>  ↙           ↘</a:t>
            </a:r>
          </a:p>
          <a:p>
            <a:pPr>
              <a:defRPr sz="1600"/>
            </a:pPr>
            <a:r>
              <a:t>User App   Command Listener</a:t>
            </a:r>
          </a:p>
          <a:p>
            <a:pPr>
              <a:defRPr sz="1600"/>
            </a:pPr>
            <a:r>
              <a:t>  ↓                ↓</a:t>
            </a:r>
          </a:p>
          <a:p>
            <a:pPr>
              <a:defRPr sz="1600"/>
            </a:pPr>
            <a:r>
              <a:t>User Sends Cmd Gateway Receives Cmd</a:t>
            </a:r>
          </a:p>
          <a:p>
            <a:pPr>
              <a:defRPr sz="1600"/>
            </a:pPr>
            <a:r>
              <a:t>     ↓                ↓</a:t>
            </a:r>
          </a:p>
          <a:p>
            <a:pPr>
              <a:defRPr sz="1600"/>
            </a:pPr>
            <a:r>
              <a:t>Firebase Database   </a:t>
            </a:r>
          </a:p>
          <a:p>
            <a:pPr>
              <a:defRPr sz="1600"/>
            </a:pPr>
            <a:r>
              <a:t>     ↓                ↓</a:t>
            </a:r>
          </a:p>
          <a:p>
            <a:pPr>
              <a:defRPr sz="1600"/>
            </a:pPr>
            <a:r>
              <a:t>Gateway Reads Cmd  </a:t>
            </a:r>
          </a:p>
          <a:p>
            <a:pPr>
              <a:defRPr sz="1600"/>
            </a:pPr>
            <a:r>
              <a:t>     ↓                ↓</a:t>
            </a:r>
          </a:p>
          <a:p>
            <a:pPr>
              <a:defRPr sz="1600"/>
            </a:pPr>
            <a:r>
              <a:t>Actuator (Relay/Control Medium)</a:t>
            </a:r>
          </a:p>
        </p:txBody>
      </p:sp>
      <p:sp>
        <p:nvSpPr>
          <p:cNvPr id="204" name="Start…"/>
          <p:cNvSpPr txBox="1"/>
          <p:nvPr/>
        </p:nvSpPr>
        <p:spPr>
          <a:xfrm>
            <a:off x="1210564" y="2032573"/>
            <a:ext cx="3626546" cy="4108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1600"/>
            </a:pPr>
            <a:r>
              <a:t>Start</a:t>
            </a:r>
          </a:p>
          <a:p>
            <a:pPr>
              <a:defRPr sz="1600"/>
            </a:pPr>
            <a:r>
              <a:t>   ↓</a:t>
            </a:r>
          </a:p>
          <a:p>
            <a:pPr>
              <a:defRPr sz="1600"/>
            </a:pPr>
            <a:r>
              <a:t>Read Temperature &amp; Humidity Sensor</a:t>
            </a:r>
          </a:p>
          <a:p>
            <a:pPr>
              <a:defRPr sz="1600"/>
            </a:pPr>
            <a:r>
              <a:t>   ↓</a:t>
            </a:r>
          </a:p>
          <a:p>
            <a:pPr>
              <a:defRPr sz="1600"/>
            </a:pPr>
            <a:r>
              <a:t>Read Moisture &amp; pH Neutron Sensor</a:t>
            </a:r>
          </a:p>
          <a:p>
            <a:pPr>
              <a:defRPr sz="1600"/>
            </a:pPr>
            <a:r>
              <a:t>   ↓</a:t>
            </a:r>
          </a:p>
          <a:p>
            <a:pPr>
              <a:defRPr sz="1600"/>
            </a:pPr>
            <a:r>
              <a:t>Process Sensor Data in RISC Controller</a:t>
            </a:r>
          </a:p>
          <a:p>
            <a:pPr>
              <a:defRPr sz="1600"/>
            </a:pPr>
            <a:r>
              <a:t>   ↓</a:t>
            </a:r>
          </a:p>
          <a:p>
            <a:pPr>
              <a:defRPr sz="1600">
                <a:solidFill>
                  <a:srgbClr val="DB4437"/>
                </a:solidFill>
              </a:defRPr>
            </a:pPr>
            <a:r>
              <a:t>Send Data via LoRa Transceiver</a:t>
            </a:r>
          </a:p>
          <a:p>
            <a:pPr>
              <a:defRPr sz="1600"/>
            </a:pPr>
            <a:r>
              <a:t>   ↓</a:t>
            </a:r>
          </a:p>
          <a:p>
            <a:pPr>
              <a:defRPr sz="1600"/>
            </a:pPr>
            <a:r>
              <a:t>Wait for Control Command via LoRa</a:t>
            </a:r>
          </a:p>
          <a:p>
            <a:pPr>
              <a:defRPr sz="1600"/>
            </a:pPr>
            <a:r>
              <a:t>   ↓</a:t>
            </a:r>
          </a:p>
          <a:p>
            <a:pPr>
              <a:defRPr sz="1600"/>
            </a:pPr>
            <a:r>
              <a:t>Continue Monitoring Sensors</a:t>
            </a:r>
          </a:p>
          <a:p>
            <a:pPr>
              <a:defRPr sz="1600"/>
            </a:pPr>
            <a:r>
              <a:t>             </a:t>
            </a:r>
          </a:p>
          <a:p>
            <a:pPr>
              <a:defRPr sz="1600"/>
            </a:pPr>
            <a:r>
              <a:t>Activate Control Medium</a:t>
            </a:r>
          </a:p>
          <a:p>
            <a:pPr>
              <a:defRPr sz="1600"/>
            </a:pPr>
            <a:r>
              <a:t>   ↓</a:t>
            </a:r>
          </a:p>
          <a:p>
            <a:pPr>
              <a:defRPr sz="1600"/>
            </a:pPr>
            <a:r>
              <a:t>Repeat Cycle</a:t>
            </a:r>
          </a:p>
        </p:txBody>
      </p:sp>
      <p:sp>
        <p:nvSpPr>
          <p:cNvPr id="205" name="Rectangle"/>
          <p:cNvSpPr/>
          <p:nvPr/>
        </p:nvSpPr>
        <p:spPr>
          <a:xfrm>
            <a:off x="1002193" y="1869601"/>
            <a:ext cx="3925662" cy="4278453"/>
          </a:xfrm>
          <a:prstGeom prst="rect">
            <a:avLst/>
          </a:prstGeom>
          <a:ln w="25400">
            <a:solidFill>
              <a:srgbClr val="0277BD"/>
            </a:solidFill>
          </a:ln>
        </p:spPr>
        <p:txBody>
          <a:bodyPr lIns="0" tIns="0" rIns="0" bIns="0"/>
          <a:lstStyle/>
          <a:p>
            <a:pPr>
              <a:defRPr>
                <a:solidFill>
                  <a:srgbClr val="4285F4"/>
                </a:solidFill>
              </a:defRPr>
            </a:pPr>
          </a:p>
        </p:txBody>
      </p:sp>
      <p:sp>
        <p:nvSpPr>
          <p:cNvPr id="206" name="Rectangle"/>
          <p:cNvSpPr/>
          <p:nvPr/>
        </p:nvSpPr>
        <p:spPr>
          <a:xfrm>
            <a:off x="7069990" y="1530988"/>
            <a:ext cx="4000287" cy="4804967"/>
          </a:xfrm>
          <a:prstGeom prst="rect">
            <a:avLst/>
          </a:prstGeom>
          <a:ln w="25400">
            <a:solidFill>
              <a:srgbClr val="0277BD"/>
            </a:solidFill>
          </a:ln>
        </p:spPr>
        <p:txBody>
          <a:bodyPr lIns="0" tIns="0" rIns="0" bIns="0"/>
          <a:lstStyle/>
          <a:p>
            <a:pPr>
              <a:defRPr>
                <a:solidFill>
                  <a:srgbClr val="4285F4"/>
                </a:solidFill>
              </a:defRPr>
            </a:pPr>
          </a:p>
        </p:txBody>
      </p:sp>
      <p:sp>
        <p:nvSpPr>
          <p:cNvPr id="207" name="NODE"/>
          <p:cNvSpPr txBox="1"/>
          <p:nvPr/>
        </p:nvSpPr>
        <p:spPr>
          <a:xfrm>
            <a:off x="992411" y="1564009"/>
            <a:ext cx="526394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rgbClr val="025F97"/>
                </a:solidFill>
              </a:defRPr>
            </a:lvl1pPr>
          </a:lstStyle>
          <a:p>
            <a:pPr/>
            <a:r>
              <a:t>NODE</a:t>
            </a:r>
          </a:p>
        </p:txBody>
      </p:sp>
      <p:sp>
        <p:nvSpPr>
          <p:cNvPr id="208" name="Transceiver"/>
          <p:cNvSpPr txBox="1"/>
          <p:nvPr/>
        </p:nvSpPr>
        <p:spPr>
          <a:xfrm>
            <a:off x="7063369" y="1244835"/>
            <a:ext cx="100119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rgbClr val="025F97"/>
                </a:solidFill>
              </a:defRPr>
            </a:lvl1pPr>
          </a:lstStyle>
          <a:p>
            <a:pPr/>
            <a:r>
              <a:t>Transceiver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74;p14"/>
          <p:cNvSpPr txBox="1"/>
          <p:nvPr>
            <p:ph type="title"/>
          </p:nvPr>
        </p:nvSpPr>
        <p:spPr>
          <a:xfrm>
            <a:off x="1984950" y="1472097"/>
            <a:ext cx="8222100" cy="3913806"/>
          </a:xfrm>
          <a:prstGeom prst="rect">
            <a:avLst/>
          </a:prstGeom>
        </p:spPr>
        <p:txBody>
          <a:bodyPr/>
          <a:lstStyle/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Motivation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Literature Survey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Methodology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Design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Hardware Implementation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Working Flow</a:t>
            </a:r>
          </a:p>
          <a:p>
            <a:pPr defTabSz="365760">
              <a:defRPr b="1"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Results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Conclusion</a:t>
            </a:r>
          </a:p>
          <a:p>
            <a:pPr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References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b="1"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Challenges &amp; Future Work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⚡ Results"/>
          <p:cNvSpPr txBox="1"/>
          <p:nvPr>
            <p:ph type="title"/>
          </p:nvPr>
        </p:nvSpPr>
        <p:spPr>
          <a:xfrm>
            <a:off x="59612" y="-14024"/>
            <a:ext cx="10515601" cy="132556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b="1" sz="6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⚡ </a:t>
            </a:r>
            <a:r>
              <a:rPr>
                <a:solidFill>
                  <a:schemeClr val="accent1"/>
                </a:solidFill>
              </a:rPr>
              <a:t>Results</a:t>
            </a:r>
          </a:p>
        </p:txBody>
      </p:sp>
      <p:pic>
        <p:nvPicPr>
          <p:cNvPr id="215" name="Google Shape;364;p54" descr="Google Shape;364;p5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51963" y="249206"/>
            <a:ext cx="4597601" cy="3191099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You've set up a system on a one-acre farm. To monitor it, you've placed LoRa transmitters and receivers at opposite ends of the property.…"/>
          <p:cNvSpPr txBox="1"/>
          <p:nvPr>
            <p:ph type="body" sz="half" idx="4294967295"/>
          </p:nvPr>
        </p:nvSpPr>
        <p:spPr>
          <a:xfrm>
            <a:off x="187538" y="1690074"/>
            <a:ext cx="6720454" cy="4616357"/>
          </a:xfrm>
          <a:prstGeom prst="rect">
            <a:avLst/>
          </a:prstGeom>
        </p:spPr>
        <p:txBody>
          <a:bodyPr lIns="91424" tIns="91424" rIns="91424" bIns="91424"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You've set up a system on a one-acre farm. To monitor it, you've placed LoRa transmitters and receivers at opposite ends of the property.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farm itself has been divided into a grid of squares, each measuring 45 feet by 45 feet. I took signal strength measurements (called RSSI) at 20 different points within these grids.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typical signal strength you observed across these locations was -137 dBm.</a:t>
            </a:r>
          </a:p>
        </p:txBody>
      </p:sp>
      <p:sp>
        <p:nvSpPr>
          <p:cNvPr id="217" name="Benefits…"/>
          <p:cNvSpPr txBox="1"/>
          <p:nvPr/>
        </p:nvSpPr>
        <p:spPr>
          <a:xfrm>
            <a:off x="7168277" y="3981970"/>
            <a:ext cx="4364973" cy="2619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latin typeface="Calibri"/>
                <a:ea typeface="Calibri"/>
                <a:cs typeface="Calibri"/>
                <a:sym typeface="Calibri"/>
              </a:defRPr>
            </a:pPr>
            <a:r>
              <a:t>Benefits</a:t>
            </a:r>
          </a:p>
          <a:p>
            <a:pPr marL="227263" indent="-227263">
              <a:buSzPct val="100000"/>
              <a:buAutoNum type="arabicPeriod" startAt="1"/>
              <a:defRPr sz="1700">
                <a:latin typeface="Calibri"/>
                <a:ea typeface="Calibri"/>
                <a:cs typeface="Calibri"/>
                <a:sym typeface="Calibri"/>
              </a:defRPr>
            </a:pPr>
            <a:r>
              <a:t>Increased Efficiency Reduced waste of water and nutrients.</a:t>
            </a:r>
          </a:p>
          <a:p>
            <a:pPr marL="227263" indent="-227263">
              <a:buSzPct val="100000"/>
              <a:buAutoNum type="arabicPeriod" startAt="1"/>
              <a:defRPr sz="1700">
                <a:latin typeface="Calibri"/>
                <a:ea typeface="Calibri"/>
                <a:cs typeface="Calibri"/>
                <a:sym typeface="Calibri"/>
              </a:defRPr>
            </a:pPr>
            <a:r>
              <a:t>Better Yields Healthier plants, optimized growth conditions.</a:t>
            </a:r>
          </a:p>
          <a:p>
            <a:pPr marL="227263" indent="-227263">
              <a:buSzPct val="100000"/>
              <a:buAutoNum type="arabicPeriod" startAt="1"/>
              <a:defRPr sz="1700">
                <a:latin typeface="Calibri"/>
                <a:ea typeface="Calibri"/>
                <a:cs typeface="Calibri"/>
                <a:sym typeface="Calibri"/>
              </a:defRPr>
            </a:pPr>
            <a:r>
              <a:t>Reduced Labor Automated monitoring and control.</a:t>
            </a:r>
          </a:p>
          <a:p>
            <a:pPr marL="227263" indent="-227263">
              <a:buSzPct val="100000"/>
              <a:buAutoNum type="arabicPeriod" startAt="1"/>
              <a:defRPr sz="1700">
                <a:latin typeface="Calibri"/>
                <a:ea typeface="Calibri"/>
                <a:cs typeface="Calibri"/>
                <a:sym typeface="Calibri"/>
              </a:defRPr>
            </a:pPr>
            <a:r>
              <a:t>Data-Driven Decisions Farmers gain actionable insights.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IMG_8818.jpg" descr="IMG_8818.jpg"/>
          <p:cNvPicPr>
            <a:picLocks noChangeAspect="1"/>
          </p:cNvPicPr>
          <p:nvPr/>
        </p:nvPicPr>
        <p:blipFill>
          <a:blip r:embed="rId2">
            <a:extLst/>
          </a:blip>
          <a:srcRect l="2947" t="5166" r="9693" b="3095"/>
          <a:stretch>
            <a:fillRect/>
          </a:stretch>
        </p:blipFill>
        <p:spPr>
          <a:xfrm>
            <a:off x="397692" y="660400"/>
            <a:ext cx="7338916" cy="5740292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Transreceiver"/>
          <p:cNvSpPr txBox="1"/>
          <p:nvPr/>
        </p:nvSpPr>
        <p:spPr>
          <a:xfrm>
            <a:off x="3234728" y="226028"/>
            <a:ext cx="166494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2000">
                <a:solidFill>
                  <a:srgbClr val="4285F4"/>
                </a:solidFill>
              </a:defRPr>
            </a:lvl1pPr>
          </a:lstStyle>
          <a:p>
            <a:pPr/>
            <a:r>
              <a:t>Transreceiver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IMG_8814.jpg" descr="IMG_8814.jpg"/>
          <p:cNvPicPr>
            <a:picLocks noChangeAspect="1"/>
          </p:cNvPicPr>
          <p:nvPr/>
        </p:nvPicPr>
        <p:blipFill>
          <a:blip r:embed="rId2">
            <a:extLst/>
          </a:blip>
          <a:srcRect l="0" t="13365" r="6615" b="0"/>
          <a:stretch>
            <a:fillRect/>
          </a:stretch>
        </p:blipFill>
        <p:spPr>
          <a:xfrm>
            <a:off x="179826" y="1338659"/>
            <a:ext cx="5636548" cy="418051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IMG_8815.jpg" descr="IMG_8815.jpg"/>
          <p:cNvPicPr>
            <a:picLocks noChangeAspect="1"/>
          </p:cNvPicPr>
          <p:nvPr/>
        </p:nvPicPr>
        <p:blipFill>
          <a:blip r:embed="rId3">
            <a:extLst/>
          </a:blip>
          <a:srcRect l="3984" t="14036" r="25497" b="1340"/>
          <a:stretch>
            <a:fillRect/>
          </a:stretch>
        </p:blipFill>
        <p:spPr>
          <a:xfrm>
            <a:off x="5965828" y="1329928"/>
            <a:ext cx="6113544" cy="4198251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Node 1"/>
          <p:cNvSpPr txBox="1"/>
          <p:nvPr/>
        </p:nvSpPr>
        <p:spPr>
          <a:xfrm>
            <a:off x="2614220" y="891241"/>
            <a:ext cx="767631" cy="281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2000">
                <a:solidFill>
                  <a:srgbClr val="4285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Node 1</a:t>
            </a:r>
          </a:p>
        </p:txBody>
      </p:sp>
      <p:sp>
        <p:nvSpPr>
          <p:cNvPr id="225" name="Node 2"/>
          <p:cNvSpPr txBox="1"/>
          <p:nvPr/>
        </p:nvSpPr>
        <p:spPr>
          <a:xfrm>
            <a:off x="8638744" y="891241"/>
            <a:ext cx="767631" cy="281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2000">
                <a:solidFill>
                  <a:srgbClr val="4285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Node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1.jpg" descr="1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17462" y="240776"/>
            <a:ext cx="8357076" cy="6376448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Rectangle"/>
          <p:cNvSpPr/>
          <p:nvPr/>
        </p:nvSpPr>
        <p:spPr>
          <a:xfrm>
            <a:off x="5339183" y="4679820"/>
            <a:ext cx="1216822" cy="539010"/>
          </a:xfrm>
          <a:prstGeom prst="rect">
            <a:avLst/>
          </a:prstGeom>
          <a:solidFill>
            <a:srgbClr val="161010"/>
          </a:solidFill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29" name="FieldNet"/>
          <p:cNvSpPr txBox="1"/>
          <p:nvPr/>
        </p:nvSpPr>
        <p:spPr>
          <a:xfrm>
            <a:off x="5460724" y="4801287"/>
            <a:ext cx="1005794" cy="29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100">
                <a:solidFill>
                  <a:srgbClr val="FFFFFF"/>
                </a:solidFill>
              </a:defRPr>
            </a:lvl1pPr>
          </a:lstStyle>
          <a:p>
            <a:pPr/>
            <a:r>
              <a:t>FieldNet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Hardware Resource…"/>
          <p:cNvSpPr txBox="1"/>
          <p:nvPr/>
        </p:nvSpPr>
        <p:spPr>
          <a:xfrm>
            <a:off x="7215029" y="1226304"/>
            <a:ext cx="4393605" cy="4405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Hardware Resource</a:t>
            </a:r>
          </a:p>
          <a:p>
            <a:pPr>
              <a:lnSpc>
                <a:spcPct val="120000"/>
              </a:lnSpc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br/>
            <a:r>
              <a:t>Power supply: DC9-24V</a:t>
            </a:r>
            <a:br/>
            <a:r>
              <a:t>USB-C: download firmware</a:t>
            </a:r>
            <a:br/>
            <a:r>
              <a:t>Buttons: ESP32 Reset and Download</a:t>
            </a:r>
            <a:br/>
            <a:r>
              <a:t>ESP32-S3-WROOM-1U N16R8</a:t>
            </a:r>
            <a:br/>
            <a:r>
              <a:t>SX1278 LoRa module: Use by 433MHz</a:t>
            </a:r>
            <a:br/>
            <a:r>
              <a:t>Relay: MAX Load AC-250v 10A</a:t>
            </a:r>
            <a:br/>
            <a:r>
              <a:t>SSD1306 i2c OLED Display</a:t>
            </a:r>
            <a:br/>
            <a:r>
              <a:t>Analog Input: 4 channel dc 0-5v signal</a:t>
            </a:r>
            <a:br/>
            <a:r>
              <a:t>1-wire: 1 channel</a:t>
            </a:r>
            <a:br/>
            <a:r>
              <a:t>Digital input: 1 channel </a:t>
            </a:r>
          </a:p>
          <a:p>
            <a:pPr>
              <a:lnSpc>
                <a:spcPct val="120000"/>
              </a:lnSpc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I2C bus: 1</a:t>
            </a:r>
          </a:p>
        </p:txBody>
      </p:sp>
      <p:pic>
        <p:nvPicPr>
          <p:cNvPr id="232" name="3.jpg" descr="3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86844" y="1268596"/>
            <a:ext cx="5355613" cy="34857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74;p14"/>
          <p:cNvSpPr txBox="1"/>
          <p:nvPr>
            <p:ph type="title"/>
          </p:nvPr>
        </p:nvSpPr>
        <p:spPr>
          <a:xfrm>
            <a:off x="1984950" y="1472097"/>
            <a:ext cx="8222100" cy="3913806"/>
          </a:xfrm>
          <a:prstGeom prst="rect">
            <a:avLst/>
          </a:prstGeom>
        </p:spPr>
        <p:txBody>
          <a:bodyPr/>
          <a:lstStyle/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Motivation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Literature Survey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Methodology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Design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Hardware Implementation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Working Flow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Results</a:t>
            </a:r>
          </a:p>
          <a:p>
            <a:pPr defTabSz="365760">
              <a:defRPr b="1"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Conclusion</a:t>
            </a:r>
          </a:p>
          <a:p>
            <a:pPr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References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b="1"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Challenges &amp; Future Work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🚀 Conclusion"/>
          <p:cNvSpPr txBox="1"/>
          <p:nvPr>
            <p:ph type="title"/>
          </p:nvPr>
        </p:nvSpPr>
        <p:spPr>
          <a:xfrm>
            <a:off x="59612" y="-14024"/>
            <a:ext cx="10515601" cy="132556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b="1" sz="6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🚀 </a:t>
            </a:r>
            <a:r>
              <a:rPr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239" name="Our smart farm system is a game-changer! By continuously monitoring conditions, intelligently processing data, and communicating wirelessly via LoRa, we can precisely control various farm operations.…"/>
          <p:cNvSpPr txBox="1"/>
          <p:nvPr>
            <p:ph type="body" idx="4294967295"/>
          </p:nvPr>
        </p:nvSpPr>
        <p:spPr>
          <a:xfrm>
            <a:off x="310650" y="2039913"/>
            <a:ext cx="11570700" cy="3613501"/>
          </a:xfrm>
          <a:prstGeom prst="rect">
            <a:avLst/>
          </a:prstGeom>
        </p:spPr>
        <p:txBody>
          <a:bodyPr lIns="91424" tIns="91424" rIns="91424" bIns="91424"/>
          <a:lstStyle/>
          <a:p>
            <a:pPr marL="206441" indent="-206441" algn="just" defTabSz="649223">
              <a:lnSpc>
                <a:spcPct val="120000"/>
              </a:lnSpc>
              <a:spcBef>
                <a:spcPts val="0"/>
              </a:spcBef>
              <a:buClrTx/>
              <a:buSzPct val="100000"/>
              <a:buFontTx/>
              <a:defRPr sz="2059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Our smart farm system is a game-changer! By continuously monitoring conditions, intelligently processing data, and communicating wirelessly via LoRa, we can precisely control various farm operations.</a:t>
            </a:r>
          </a:p>
          <a:p>
            <a:pPr marL="206441" indent="-206441" algn="just" defTabSz="649223">
              <a:lnSpc>
                <a:spcPct val="120000"/>
              </a:lnSpc>
              <a:spcBef>
                <a:spcPts val="0"/>
              </a:spcBef>
              <a:buClrTx/>
              <a:buSzPct val="100000"/>
              <a:buFontTx/>
              <a:defRPr sz="2059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06441" indent="-206441" algn="just" defTabSz="649223">
              <a:lnSpc>
                <a:spcPct val="120000"/>
              </a:lnSpc>
              <a:spcBef>
                <a:spcPts val="0"/>
              </a:spcBef>
              <a:buClrTx/>
              <a:buSzPct val="100000"/>
              <a:buFontTx/>
              <a:defRPr sz="2059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LoRa is the first wireless system that operates at km distances while consuming less than </a:t>
            </a:r>
            <a:r>
              <a:rPr b="1"/>
              <a:t>10 µW</a:t>
            </a:r>
          </a:p>
          <a:p>
            <a:pPr marL="206441" indent="-206441" algn="just" defTabSz="649223">
              <a:lnSpc>
                <a:spcPct val="120000"/>
              </a:lnSpc>
              <a:spcBef>
                <a:spcPts val="0"/>
              </a:spcBef>
              <a:buClrTx/>
              <a:buSzPct val="100000"/>
              <a:buFontTx/>
              <a:defRPr sz="2059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06441" indent="-206441" algn="just" defTabSz="649223">
              <a:lnSpc>
                <a:spcPct val="120000"/>
              </a:lnSpc>
              <a:spcBef>
                <a:spcPts val="0"/>
              </a:spcBef>
              <a:buClrTx/>
              <a:buSzPct val="100000"/>
              <a:buFontTx/>
              <a:defRPr sz="2059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Inexpensive, flexible form factor connectivity solutions which can be integrated into everyday objects</a:t>
            </a:r>
          </a:p>
          <a:p>
            <a:pPr marL="0" indent="0" algn="just" defTabSz="649223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  <a:defRPr sz="2059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06441" indent="-206441" algn="just" defTabSz="649223">
              <a:lnSpc>
                <a:spcPct val="120000"/>
              </a:lnSpc>
              <a:spcBef>
                <a:spcPts val="0"/>
              </a:spcBef>
              <a:buClrTx/>
              <a:buSzPct val="100000"/>
              <a:buFontTx/>
              <a:defRPr sz="2059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Feasible for wide-area deployment whole-home coverage, precision agriculture, long-range medical implants, and more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74;p14"/>
          <p:cNvSpPr txBox="1"/>
          <p:nvPr>
            <p:ph type="title"/>
          </p:nvPr>
        </p:nvSpPr>
        <p:spPr>
          <a:xfrm>
            <a:off x="1984950" y="1472097"/>
            <a:ext cx="8222100" cy="3913806"/>
          </a:xfrm>
          <a:prstGeom prst="rect">
            <a:avLst/>
          </a:prstGeom>
        </p:spPr>
        <p:txBody>
          <a:bodyPr/>
          <a:lstStyle/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Motivation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Literature Survey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Methodology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Design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Hardware Implementation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Working Flow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Results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Conclusion</a:t>
            </a:r>
          </a:p>
          <a:p>
            <a:pPr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b="1"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References</a:t>
            </a: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b="1"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365760">
              <a:defRPr sz="2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Challenges &amp; Future Work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8095" y="178990"/>
            <a:ext cx="11555863" cy="65001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97;p2"/>
          <p:cNvSpPr/>
          <p:nvPr/>
        </p:nvSpPr>
        <p:spPr>
          <a:xfrm>
            <a:off x="0" y="5320141"/>
            <a:ext cx="12192000" cy="736552"/>
          </a:xfrm>
          <a:prstGeom prst="rect">
            <a:avLst/>
          </a:prstGeom>
          <a:solidFill>
            <a:srgbClr val="FFFFFF">
              <a:alpha val="92549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8" name="Google Shape;98;p2"/>
          <p:cNvSpPr txBox="1"/>
          <p:nvPr>
            <p:ph type="title"/>
          </p:nvPr>
        </p:nvSpPr>
        <p:spPr>
          <a:xfrm>
            <a:off x="2560109" y="1716067"/>
            <a:ext cx="7071782" cy="1905414"/>
          </a:xfrm>
          <a:prstGeom prst="rect">
            <a:avLst/>
          </a:prstGeom>
        </p:spPr>
        <p:txBody>
          <a:bodyPr/>
          <a:lstStyle>
            <a:lvl1pPr algn="ctr">
              <a:defRPr sz="63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Thank You!!</a:t>
            </a:r>
          </a:p>
        </p:txBody>
      </p:sp>
      <p:sp>
        <p:nvSpPr>
          <p:cNvPr id="249" name="Google Shape;99;p2"/>
          <p:cNvSpPr/>
          <p:nvPr/>
        </p:nvSpPr>
        <p:spPr>
          <a:xfrm>
            <a:off x="0" y="5241983"/>
            <a:ext cx="12192000" cy="1"/>
          </a:xfrm>
          <a:prstGeom prst="line">
            <a:avLst/>
          </a:prstGeom>
          <a:ln w="41275">
            <a:solidFill>
              <a:srgbClr val="FFFFFF">
                <a:alpha val="89411"/>
              </a:srgbClr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0" name="Google Shape;100;p2"/>
          <p:cNvSpPr/>
          <p:nvPr/>
        </p:nvSpPr>
        <p:spPr>
          <a:xfrm>
            <a:off x="0" y="6134851"/>
            <a:ext cx="12192000" cy="1"/>
          </a:xfrm>
          <a:prstGeom prst="line">
            <a:avLst/>
          </a:prstGeom>
          <a:ln w="41275">
            <a:solidFill>
              <a:srgbClr val="FFFFFF">
                <a:alpha val="89411"/>
              </a:srgbClr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1" name="Google Shape;101;p2"/>
          <p:cNvSpPr txBox="1"/>
          <p:nvPr/>
        </p:nvSpPr>
        <p:spPr>
          <a:xfrm>
            <a:off x="2693551" y="4846617"/>
            <a:ext cx="6640551" cy="168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 algn="ctr" defTabSz="658368">
              <a:lnSpc>
                <a:spcPct val="70000"/>
              </a:lnSpc>
              <a:defRPr sz="216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Prateek Singh</a:t>
            </a:r>
            <a:endParaRPr sz="576"/>
          </a:p>
          <a:p>
            <a:pPr algn="ctr" defTabSz="658368">
              <a:lnSpc>
                <a:spcPct val="70000"/>
              </a:lnSpc>
              <a:defRPr sz="1008"/>
            </a:pPr>
            <a:endParaRPr sz="216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658368">
              <a:lnSpc>
                <a:spcPct val="70000"/>
              </a:lnSpc>
              <a:defRPr b="1" sz="1728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Mobile No:</a:t>
            </a:r>
            <a:r>
              <a:rPr b="0"/>
              <a:t> +91 8830584864</a:t>
            </a:r>
            <a:endParaRPr sz="576"/>
          </a:p>
          <a:p>
            <a:pPr algn="ctr" defTabSz="658368">
              <a:lnSpc>
                <a:spcPct val="70000"/>
              </a:lnSpc>
              <a:defRPr sz="1008"/>
            </a:pPr>
            <a:endParaRPr sz="792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658368">
              <a:lnSpc>
                <a:spcPct val="70000"/>
              </a:lnSpc>
              <a:defRPr b="1" sz="1728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Mail ID:</a:t>
            </a:r>
            <a:r>
              <a:rPr b="0"/>
              <a:t>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prateeksingh4864@gmail.com</a:t>
            </a:r>
            <a:endParaRPr b="0"/>
          </a:p>
          <a:p>
            <a:pPr algn="ctr" defTabSz="658368">
              <a:lnSpc>
                <a:spcPct val="70000"/>
              </a:lnSpc>
              <a:defRPr b="1" sz="1728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/>
          </a:p>
          <a:p>
            <a:pPr algn="ctr" defTabSz="658368">
              <a:defRPr b="1" sz="1728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/>
              <a:t>Github: </a:t>
            </a:r>
            <a:r>
              <a:rPr b="0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https://github.com/PrateekSinghRajput/Post-Graduate-Project-Details-2025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